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6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7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0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2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2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6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5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7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323E6-64F4-457C-AE3A-0E0220D0368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6541F-F612-446F-BA46-0D23356F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4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E1DF-4264-76F8-9B57-47DB25CC8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Recipe Discovery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7ED10-31E5-1D00-3FF2-4ECA46EBD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1496" y="3602038"/>
            <a:ext cx="9346504" cy="1655762"/>
          </a:xfrm>
        </p:spPr>
        <p:txBody>
          <a:bodyPr/>
          <a:lstStyle/>
          <a:p>
            <a:pPr algn="l"/>
            <a:r>
              <a:rPr lang="en-US" i="1" dirty="0"/>
              <a:t>Solving how to predict popular recipes for the Tasty Bites homepage</a:t>
            </a:r>
          </a:p>
        </p:txBody>
      </p:sp>
    </p:spTree>
    <p:extLst>
      <p:ext uri="{BB962C8B-B14F-4D97-AF65-F5344CB8AC3E}">
        <p14:creationId xmlns:p14="http://schemas.microsoft.com/office/powerpoint/2010/main" val="241485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682D-D40C-081D-C730-3F766EE3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AA5E-E78C-D5BA-5D80-DF543140B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The Product Management team manually selects recipes to display on the homepage</a:t>
            </a:r>
          </a:p>
          <a:p>
            <a:pPr>
              <a:spcAft>
                <a:spcPts val="1200"/>
              </a:spcAft>
            </a:pPr>
            <a:r>
              <a:rPr lang="en-US" dirty="0"/>
              <a:t>A popular recipes can increase web traffic up to 40%</a:t>
            </a:r>
          </a:p>
          <a:p>
            <a:pPr>
              <a:spcAft>
                <a:spcPts val="1200"/>
              </a:spcAft>
            </a:pPr>
            <a:r>
              <a:rPr lang="en-US" dirty="0"/>
              <a:t>The recipe selection can be automatized</a:t>
            </a:r>
          </a:p>
          <a:p>
            <a:pPr>
              <a:spcAft>
                <a:spcPts val="1200"/>
              </a:spcAft>
            </a:pPr>
            <a:r>
              <a:rPr lang="en-US" dirty="0"/>
              <a:t>A data science solution to correctly predicting which recipes are going to lead to increased web traffic</a:t>
            </a:r>
          </a:p>
          <a:p>
            <a:pPr>
              <a:spcAft>
                <a:spcPts val="1200"/>
              </a:spcAft>
            </a:pPr>
            <a:r>
              <a:rPr lang="en-US" dirty="0"/>
              <a:t>Target: &gt;80% success rate in predicting a popular recipe</a:t>
            </a:r>
          </a:p>
        </p:txBody>
      </p:sp>
    </p:spTree>
    <p:extLst>
      <p:ext uri="{BB962C8B-B14F-4D97-AF65-F5344CB8AC3E}">
        <p14:creationId xmlns:p14="http://schemas.microsoft.com/office/powerpoint/2010/main" val="221128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FF28-DB43-4B0F-BF73-163B3B7D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BDE8-4350-7129-BC69-E89BDD775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737" y="4473233"/>
            <a:ext cx="10515600" cy="155924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 set provided by the Product Management team</a:t>
            </a:r>
          </a:p>
          <a:p>
            <a:r>
              <a:rPr lang="en-US" dirty="0"/>
              <a:t>6 predictors, 1 outcome, and 1 ID variable</a:t>
            </a:r>
          </a:p>
          <a:p>
            <a:r>
              <a:rPr lang="en-US" dirty="0"/>
              <a:t>Validation revealed issues with extensive missing data in 5% of recordings, mixed alpha-numeric content, and inconsistent categories</a:t>
            </a:r>
          </a:p>
          <a:p>
            <a:r>
              <a:rPr lang="en-US" dirty="0"/>
              <a:t>Cleaning steps applied to obtain a more robust data set ready for analysis and modelling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1BF9D-CF19-A1E3-96D8-7940417B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37" y="1605145"/>
            <a:ext cx="6324925" cy="2514729"/>
          </a:xfrm>
          <a:prstGeom prst="rect">
            <a:avLst/>
          </a:prstGeom>
        </p:spPr>
      </p:pic>
      <p:pic>
        <p:nvPicPr>
          <p:cNvPr id="7" name="Picture 6" descr="A graph of a graph with text&#10;&#10;AI-generated content may be incorrect.">
            <a:extLst>
              <a:ext uri="{FF2B5EF4-FFF2-40B4-BE49-F238E27FC236}">
                <a16:creationId xmlns:a16="http://schemas.microsoft.com/office/drawing/2014/main" id="{659C33D8-3A8A-7B5C-CDC3-8F9D8D4E4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62" y="1092516"/>
            <a:ext cx="5029200" cy="37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4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7BBB-4CB6-7954-7245-E33FC38C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F2018-854C-0FD8-94DE-7A7DA628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2981195"/>
            <a:ext cx="5257800" cy="3195768"/>
          </a:xfrm>
        </p:spPr>
        <p:txBody>
          <a:bodyPr/>
          <a:lstStyle/>
          <a:p>
            <a:r>
              <a:rPr lang="en-US" dirty="0"/>
              <a:t>Most of the recipes provided in the data set ~ 60% are associated with high traffic</a:t>
            </a:r>
          </a:p>
        </p:txBody>
      </p:sp>
      <p:pic>
        <p:nvPicPr>
          <p:cNvPr id="11" name="Picture 10" descr="A graph of a number of squares&#10;&#10;AI-generated content may be incorrect.">
            <a:extLst>
              <a:ext uri="{FF2B5EF4-FFF2-40B4-BE49-F238E27FC236}">
                <a16:creationId xmlns:a16="http://schemas.microsoft.com/office/drawing/2014/main" id="{F0316CDB-3542-D4C0-64C4-9A0E67D32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7339"/>
            <a:ext cx="4762745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0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56D6-27DF-0652-33D1-BD03885D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51C9-2067-825C-04E6-3586D01F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EA3B8-10DA-2BAE-5348-B94B2F138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747" y="4837050"/>
            <a:ext cx="5257800" cy="1538698"/>
          </a:xfrm>
        </p:spPr>
        <p:txBody>
          <a:bodyPr/>
          <a:lstStyle/>
          <a:p>
            <a:r>
              <a:rPr lang="en-US" dirty="0"/>
              <a:t>Numeric features do not appear to be correlated to a specific outcome </a:t>
            </a:r>
          </a:p>
        </p:txBody>
      </p:sp>
      <p:pic>
        <p:nvPicPr>
          <p:cNvPr id="5" name="Picture 4" descr="A graph of a number of calories&#10;&#10;AI-generated content may be incorrect.">
            <a:extLst>
              <a:ext uri="{FF2B5EF4-FFF2-40B4-BE49-F238E27FC236}">
                <a16:creationId xmlns:a16="http://schemas.microsoft.com/office/drawing/2014/main" id="{46265A06-0316-39A1-0C2A-4428FF99A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747" y="1844571"/>
            <a:ext cx="3810196" cy="2838596"/>
          </a:xfrm>
          <a:prstGeom prst="rect">
            <a:avLst/>
          </a:prstGeom>
        </p:spPr>
      </p:pic>
      <p:pic>
        <p:nvPicPr>
          <p:cNvPr id="7" name="Picture 6" descr="A graph of different levels of sugar&#10;&#10;AI-generated content may be incorrect.">
            <a:extLst>
              <a:ext uri="{FF2B5EF4-FFF2-40B4-BE49-F238E27FC236}">
                <a16:creationId xmlns:a16="http://schemas.microsoft.com/office/drawing/2014/main" id="{20C69086-EF7E-C382-7561-078B9CD55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74" y="1844571"/>
            <a:ext cx="5473981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1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854A-6049-E23C-0F04-F36B4D8C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6A1C-9E14-93B2-B2A5-3030EF66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592E0-F029-22D7-06B6-6EF396CAA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52" y="2659651"/>
            <a:ext cx="5257800" cy="1538698"/>
          </a:xfrm>
        </p:spPr>
        <p:txBody>
          <a:bodyPr/>
          <a:lstStyle/>
          <a:p>
            <a:r>
              <a:rPr lang="en-US" dirty="0"/>
              <a:t>The recipe “category” appears to be a strong predictor of the traffic outcome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22942C-24C7-6779-FEAF-DD1DA8C7E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8" y="1690688"/>
            <a:ext cx="6400800" cy="47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0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A1E8-59DE-5698-51F1-72DF68D7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1870-5E32-83F2-603A-93A5EFAA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A822A9-BA47-DC18-B30A-F71D39C66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510728"/>
            <a:ext cx="3865323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Comparison model</a:t>
            </a:r>
          </a:p>
          <a:p>
            <a:pPr marL="0" indent="0">
              <a:buNone/>
            </a:pPr>
            <a:r>
              <a:rPr lang="en-US" dirty="0"/>
              <a:t>Random Forest</a:t>
            </a:r>
          </a:p>
          <a:p>
            <a:r>
              <a:rPr lang="en-US" sz="2000" dirty="0"/>
              <a:t>more complex</a:t>
            </a:r>
          </a:p>
          <a:p>
            <a:r>
              <a:rPr lang="en-US" sz="2000" dirty="0"/>
              <a:t>can help reveal hidden patterns in data for better predictions</a:t>
            </a:r>
          </a:p>
          <a:p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2F908D4-1EC8-AF14-5435-092E182D4F67}"/>
              </a:ext>
            </a:extLst>
          </p:cNvPr>
          <p:cNvSpPr txBox="1">
            <a:spLocks/>
          </p:cNvSpPr>
          <p:nvPr/>
        </p:nvSpPr>
        <p:spPr>
          <a:xfrm>
            <a:off x="838200" y="2510728"/>
            <a:ext cx="38653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/>
              <a:t>Baseline model</a:t>
            </a:r>
          </a:p>
          <a:p>
            <a:pPr marL="0" indent="0">
              <a:buNone/>
            </a:pPr>
            <a:r>
              <a:rPr lang="en-US" dirty="0"/>
              <a:t>Logistic Regression</a:t>
            </a:r>
          </a:p>
          <a:p>
            <a:r>
              <a:rPr lang="en-US" sz="2000" dirty="0"/>
              <a:t>simple</a:t>
            </a:r>
          </a:p>
          <a:p>
            <a:r>
              <a:rPr lang="en-US" sz="2000" dirty="0"/>
              <a:t>easy to interpret</a:t>
            </a:r>
          </a:p>
          <a:p>
            <a:r>
              <a:rPr lang="en-US" sz="2000" dirty="0"/>
              <a:t>takes advantage of the predictive value of the “category” variable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D135A7A-7480-1220-6BE3-D0C5F3C4BEC3}"/>
              </a:ext>
            </a:extLst>
          </p:cNvPr>
          <p:cNvSpPr txBox="1">
            <a:spLocks/>
          </p:cNvSpPr>
          <p:nvPr/>
        </p:nvSpPr>
        <p:spPr>
          <a:xfrm>
            <a:off x="838199" y="1905303"/>
            <a:ext cx="8838157" cy="531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Classification Problem with Two Outcomes</a:t>
            </a:r>
          </a:p>
        </p:txBody>
      </p:sp>
    </p:spTree>
    <p:extLst>
      <p:ext uri="{BB962C8B-B14F-4D97-AF65-F5344CB8AC3E}">
        <p14:creationId xmlns:p14="http://schemas.microsoft.com/office/powerpoint/2010/main" val="361463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4D45-02C7-A18E-DE15-7702FB7D2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5315-8689-5D5D-0DE9-EA06CDF8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Metric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1353A-510E-93CF-A5F7-5FF956CB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515"/>
            <a:ext cx="719724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Single Metric: </a:t>
            </a:r>
            <a:r>
              <a:rPr lang="en-US" b="1" dirty="0"/>
              <a:t>Precision</a:t>
            </a:r>
          </a:p>
          <a:p>
            <a:r>
              <a:rPr lang="en-US" dirty="0"/>
              <a:t>Focuses specifically on the desired outcome of “High” traffic</a:t>
            </a:r>
          </a:p>
          <a:p>
            <a:r>
              <a:rPr lang="en-US" dirty="0"/>
              <a:t>Represents the proportion of true “High” outcomes out of the predicted “High” outcomes</a:t>
            </a:r>
          </a:p>
          <a:p>
            <a:r>
              <a:rPr lang="en-US" dirty="0"/>
              <a:t>Ranges 0 – 1</a:t>
            </a:r>
          </a:p>
          <a:p>
            <a:r>
              <a:rPr lang="en-US" dirty="0"/>
              <a:t>Target: &gt;0.8</a:t>
            </a:r>
          </a:p>
        </p:txBody>
      </p:sp>
      <p:pic>
        <p:nvPicPr>
          <p:cNvPr id="11" name="Picture 10" descr="A diagram of negatives and false negatives&#10;&#10;AI-generated content may be incorrect.">
            <a:extLst>
              <a:ext uri="{FF2B5EF4-FFF2-40B4-BE49-F238E27FC236}">
                <a16:creationId xmlns:a16="http://schemas.microsoft.com/office/drawing/2014/main" id="{F1F74D73-2FDC-08FB-D3E3-0C5BD5CEB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195" y="1006475"/>
            <a:ext cx="4572000" cy="548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59114E-4381-BDC0-F053-4F3F0AB7F925}"/>
              </a:ext>
            </a:extLst>
          </p:cNvPr>
          <p:cNvSpPr txBox="1"/>
          <p:nvPr/>
        </p:nvSpPr>
        <p:spPr>
          <a:xfrm>
            <a:off x="7207943" y="6385153"/>
            <a:ext cx="4984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By Walber - Own work, CC BY-SA 4.0, https://commons.wikimedia.org/w/index.php?curid=36926283</a:t>
            </a:r>
          </a:p>
        </p:txBody>
      </p:sp>
    </p:spTree>
    <p:extLst>
      <p:ext uri="{BB962C8B-B14F-4D97-AF65-F5344CB8AC3E}">
        <p14:creationId xmlns:p14="http://schemas.microsoft.com/office/powerpoint/2010/main" val="325413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0D8A-60C6-6E69-E3B2-51590965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483F14-BAAE-506F-7980-8F0D7A1B7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046195"/>
              </p:ext>
            </p:extLst>
          </p:nvPr>
        </p:nvGraphicFramePr>
        <p:xfrm>
          <a:off x="838200" y="1825625"/>
          <a:ext cx="57003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3904">
                  <a:extLst>
                    <a:ext uri="{9D8B030D-6E8A-4147-A177-3AD203B41FA5}">
                      <a16:colId xmlns:a16="http://schemas.microsoft.com/office/drawing/2014/main" val="3206987334"/>
                    </a:ext>
                  </a:extLst>
                </a:gridCol>
                <a:gridCol w="1916482">
                  <a:extLst>
                    <a:ext uri="{9D8B030D-6E8A-4147-A177-3AD203B41FA5}">
                      <a16:colId xmlns:a16="http://schemas.microsoft.com/office/drawing/2014/main" val="11643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4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60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 (Comparison)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400844"/>
                  </a:ext>
                </a:extLst>
              </a:tr>
            </a:tbl>
          </a:graphicData>
        </a:graphic>
      </p:graphicFrame>
      <p:pic>
        <p:nvPicPr>
          <p:cNvPr id="6" name="Picture 5" descr="A graph of food items&#10;&#10;AI-generated content may be incorrect.">
            <a:extLst>
              <a:ext uri="{FF2B5EF4-FFF2-40B4-BE49-F238E27FC236}">
                <a16:creationId xmlns:a16="http://schemas.microsoft.com/office/drawing/2014/main" id="{7DD64455-383C-01CD-7518-F863B530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3082"/>
            <a:ext cx="4762745" cy="3562533"/>
          </a:xfrm>
          <a:prstGeom prst="rect">
            <a:avLst/>
          </a:prstGeom>
        </p:spPr>
      </p:pic>
      <p:pic>
        <p:nvPicPr>
          <p:cNvPr id="8" name="Picture 7" descr="A graph with text on it&#10;&#10;AI-generated content may be incorrect.">
            <a:extLst>
              <a:ext uri="{FF2B5EF4-FFF2-40B4-BE49-F238E27FC236}">
                <a16:creationId xmlns:a16="http://schemas.microsoft.com/office/drawing/2014/main" id="{B0A69310-9208-C247-2736-6C21F30AF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890" y="3073081"/>
            <a:ext cx="4762745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2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E920-AFD5-E25C-2DD8-A9432071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2AAF-74E5-4EE9-509D-7B4511A1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C64E-0C4A-2D71-AFB1-2AE3A75A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721" y="1825625"/>
            <a:ext cx="435905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KPI: Precision &amp; True Positives Count</a:t>
            </a:r>
          </a:p>
          <a:p>
            <a:r>
              <a:rPr lang="en-US" sz="2400" dirty="0"/>
              <a:t>Increasing the probability threshold &gt;0.65 leads to precision over 0.8</a:t>
            </a:r>
          </a:p>
          <a:p>
            <a:r>
              <a:rPr lang="en-US" sz="2400" dirty="0"/>
              <a:t>Flexibility in changing the threshold to get desired precision while ensuring enough potentially popular recipes are identified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69431-8A36-506D-309D-A30ECFB18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12" y="1435094"/>
            <a:ext cx="7144117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D09B-0B70-D28F-0A21-C4C6E245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AC5D-DF58-6939-F20B-60854637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A63BE-238D-13C9-98FF-7BB8AF8AF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In the short-term, </a:t>
            </a:r>
            <a:r>
              <a:rPr lang="en-US" sz="2400" b="1" dirty="0"/>
              <a:t>implement the Logistic Regression model</a:t>
            </a:r>
            <a:r>
              <a:rPr lang="en-US" sz="2400" dirty="0"/>
              <a:t> with the current data pipeline.</a:t>
            </a:r>
          </a:p>
          <a:p>
            <a:r>
              <a:rPr lang="en-US" sz="2400" dirty="0"/>
              <a:t>Take advantage of </a:t>
            </a:r>
            <a:r>
              <a:rPr lang="en-US" sz="2400" b="1" dirty="0"/>
              <a:t>flexibility in controlling precision performance </a:t>
            </a:r>
            <a:r>
              <a:rPr lang="en-US" sz="2400" dirty="0"/>
              <a:t>by setting model parameters that fit our business objectives.</a:t>
            </a:r>
          </a:p>
          <a:p>
            <a:r>
              <a:rPr lang="en-US" sz="2400" b="1" dirty="0"/>
              <a:t>Monitor KPIs</a:t>
            </a:r>
            <a:r>
              <a:rPr lang="en-US" sz="2400" dirty="0"/>
              <a:t> on a monthly basis to ensure stable and predictable performance.</a:t>
            </a:r>
          </a:p>
          <a:p>
            <a:r>
              <a:rPr lang="en-US" sz="2400" dirty="0"/>
              <a:t>In the long-term, </a:t>
            </a:r>
            <a:r>
              <a:rPr lang="en-US" sz="2400" b="1" dirty="0"/>
              <a:t>improve data collection pipeline </a:t>
            </a:r>
            <a:r>
              <a:rPr lang="en-US" sz="2400" dirty="0"/>
              <a:t>to avoid missing data, expand and improve categories, and expand the number of predictors (e.g. time-based variables, pictures presence, cost).</a:t>
            </a:r>
          </a:p>
          <a:p>
            <a:r>
              <a:rPr lang="en-US" sz="2400" b="1" dirty="0"/>
              <a:t>Implement A/B testing scenarios </a:t>
            </a:r>
            <a:r>
              <a:rPr lang="en-US" sz="2400" dirty="0"/>
              <a:t>to discover additional variables that are associated with increased web traffic based on the homepage design.</a:t>
            </a:r>
            <a:endParaRPr lang="en-US" sz="2400" b="1" dirty="0"/>
          </a:p>
          <a:p>
            <a:r>
              <a:rPr lang="en-US" sz="2400" b="1" dirty="0"/>
              <a:t>Transition to more advanced prediction models </a:t>
            </a:r>
            <a:r>
              <a:rPr lang="en-US" sz="2400" dirty="0"/>
              <a:t>to take advantage of hidden insights in expanded data sets.</a:t>
            </a:r>
          </a:p>
        </p:txBody>
      </p:sp>
    </p:spTree>
    <p:extLst>
      <p:ext uri="{BB962C8B-B14F-4D97-AF65-F5344CB8AC3E}">
        <p14:creationId xmlns:p14="http://schemas.microsoft.com/office/powerpoint/2010/main" val="58117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781</TotalTime>
  <Words>471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Recipe Discovery Project</vt:lpstr>
      <vt:lpstr>Background &amp; Goals</vt:lpstr>
      <vt:lpstr>Data Information</vt:lpstr>
      <vt:lpstr>Exploratory Analysis</vt:lpstr>
      <vt:lpstr>Exploratory Analysis</vt:lpstr>
      <vt:lpstr>Exploratory Analysis</vt:lpstr>
      <vt:lpstr>Model Selection</vt:lpstr>
      <vt:lpstr>Metric Selection</vt:lpstr>
      <vt:lpstr>Model Performance</vt:lpstr>
      <vt:lpstr>Model Performance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Dumitrescu</dc:creator>
  <cp:lastModifiedBy>Eduard Dumitrescu</cp:lastModifiedBy>
  <cp:revision>4</cp:revision>
  <dcterms:created xsi:type="dcterms:W3CDTF">2025-10-14T16:22:31Z</dcterms:created>
  <dcterms:modified xsi:type="dcterms:W3CDTF">2025-10-16T20:27:42Z</dcterms:modified>
</cp:coreProperties>
</file>