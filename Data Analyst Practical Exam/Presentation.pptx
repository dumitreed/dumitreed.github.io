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C726CDD-9700-4047-B70A-35820F39D6E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BA0810-8314-434E-AD1D-32F92809B10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839021-8E8F-471B-A07B-8EB9DCBE626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9985019-FC20-4367-87DB-62A106C3384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50D028-867F-40D9-902D-77E90E95345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6663C99-2D8D-4CBE-80DA-4D2072907EE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905D8AB-9536-49AD-85CE-B17633FB28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C195A3-AE47-4716-93E7-CB7461D51AD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487CC4-1FD9-404B-A3EF-6BDC26BF4E2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25CBE1-E9D8-4ABE-B8FD-FD8F0571513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630048D-4C04-48AD-B9DB-4F3D770D8B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Fit.ly Tech</a:t>
            </a:r>
            <a:br>
              <a:rPr sz="6000"/>
            </a:b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Data Analytics Report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21560" y="3602160"/>
            <a:ext cx="9345240" cy="165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Analyzing churn drivers for a subscription-based fitness app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Background &amp; Goals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45560" y="1592640"/>
            <a:ext cx="108345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Customer churn has increased slowly over the last two quarters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Acquiring new customer is costly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Loss of subscribers puts pressure on Marketing &amp; Product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Goal: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Reduce customer churn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Identify customer churn drivers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Business focus on subscription plan types, customer support, and user engagement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Establish business metrics to monitor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Recommend business strategies to reduce churn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Data Information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723600" y="4473360"/>
            <a:ext cx="10514160" cy="209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Three datasets provided by the Product Manager and Engineering Lead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Information provided about 400 users, including associated customer support and user activity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28.5% of the customer dataset is marked positive for churn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Validation revealed issues with mixed alpha-numeric content, inconsistent variables between datasets, and inconsistent categorical variables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Cleaning steps applied to obtain robust dataset ready for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065960" y="1690200"/>
            <a:ext cx="14760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account_info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159200" y="2190600"/>
            <a:ext cx="1856880" cy="16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customer_id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plan_list_price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churn_status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328640" y="1690200"/>
            <a:ext cx="200916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customer_support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363920" y="2156040"/>
            <a:ext cx="2644920" cy="18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ticket_time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user_id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resolution_time_hours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138880" y="1690200"/>
            <a:ext cx="145008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user_activity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8168040" y="2162160"/>
            <a:ext cx="151416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event_time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user_id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event_type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042920" y="2120760"/>
            <a:ext cx="1973520" cy="1805040"/>
          </a:xfrm>
          <a:prstGeom prst="roundRect">
            <a:avLst>
              <a:gd name="adj" fmla="val 16667"/>
            </a:avLst>
          </a:prstGeom>
          <a:noFill/>
          <a:ln w="9144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280040" y="2115360"/>
            <a:ext cx="2730240" cy="2028960"/>
          </a:xfrm>
          <a:prstGeom prst="roundRect">
            <a:avLst>
              <a:gd name="adj" fmla="val 16667"/>
            </a:avLst>
          </a:prstGeom>
          <a:noFill/>
          <a:ln w="9144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057520" y="2103480"/>
            <a:ext cx="1973880" cy="1023120"/>
          </a:xfrm>
          <a:prstGeom prst="roundRect">
            <a:avLst>
              <a:gd name="adj" fmla="val 16667"/>
            </a:avLst>
          </a:prstGeom>
          <a:noFill/>
          <a:ln w="9144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019880" y="1731960"/>
            <a:ext cx="1973880" cy="309960"/>
          </a:xfrm>
          <a:prstGeom prst="roundRect">
            <a:avLst>
              <a:gd name="adj" fmla="val 16667"/>
            </a:avLst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258800" y="1708560"/>
            <a:ext cx="2742120" cy="327960"/>
          </a:xfrm>
          <a:prstGeom prst="roundRect">
            <a:avLst>
              <a:gd name="adj" fmla="val 16667"/>
            </a:avLst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039880" y="1702080"/>
            <a:ext cx="1973880" cy="327960"/>
          </a:xfrm>
          <a:prstGeom prst="roundRect">
            <a:avLst>
              <a:gd name="adj" fmla="val 16667"/>
            </a:avLst>
          </a:prstGeom>
          <a:noFill/>
          <a:ln w="36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386720" y="2220840"/>
            <a:ext cx="1370520" cy="29160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619880" y="2465640"/>
            <a:ext cx="930960" cy="29160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8418600" y="2471760"/>
            <a:ext cx="930960" cy="291600"/>
          </a:xfrm>
          <a:prstGeom prst="roundRect">
            <a:avLst>
              <a:gd name="adj" fmla="val 16667"/>
            </a:avLst>
          </a:prstGeom>
          <a:noFill/>
          <a:ln w="1836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"/>
          <p:cNvCxnSpPr>
            <a:stCxn id="79" idx="1"/>
            <a:endCxn id="78" idx="3"/>
          </p:cNvCxnSpPr>
          <p:nvPr/>
        </p:nvCxnSpPr>
        <p:spPr>
          <a:xfrm rot="10800000">
            <a:off x="2757240" y="2366640"/>
            <a:ext cx="1863000" cy="245160"/>
          </a:xfrm>
          <a:prstGeom prst="bentConnector3">
            <a:avLst>
              <a:gd name="adj1" fmla="val 49942"/>
            </a:avLst>
          </a:prstGeom>
          <a:ln w="18360">
            <a:solidFill>
              <a:srgbClr val="000000"/>
            </a:solidFill>
            <a:round/>
          </a:ln>
        </p:spPr>
      </p:cxnSp>
      <p:cxnSp>
        <p:nvCxnSpPr>
          <p:cNvPr id="82" name=""/>
          <p:cNvCxnSpPr>
            <a:stCxn id="80" idx="1"/>
            <a:endCxn id="79" idx="3"/>
          </p:cNvCxnSpPr>
          <p:nvPr/>
        </p:nvCxnSpPr>
        <p:spPr>
          <a:xfrm rot="10800000">
            <a:off x="5550840" y="2611080"/>
            <a:ext cx="2868120" cy="6480"/>
          </a:xfrm>
          <a:prstGeom prst="bentConnector3">
            <a:avLst>
              <a:gd name="adj1" fmla="val 49962"/>
            </a:avLst>
          </a:prstGeom>
          <a:ln w="18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Users Plan Type Choices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240840" y="5264640"/>
            <a:ext cx="11712240" cy="12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All 4 plan tiers are popular choices for our customers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Churn rates differ between free and paid plans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378000" y="1495800"/>
            <a:ext cx="4836600" cy="36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5737320" y="1513080"/>
            <a:ext cx="4845600" cy="365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Custo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mer 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Suppor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 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Activit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240840" y="5264640"/>
            <a:ext cx="11712240" cy="12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Most tickets are solved within 12 hours (72.1%), but can take up to 32 hours to 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Users who have dropped their subscription are experiencing longer ticket resolution times on average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313560" y="1466640"/>
            <a:ext cx="4836600" cy="36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/>
          <p:cNvPicPr/>
          <p:nvPr/>
        </p:nvPicPr>
        <p:blipFill>
          <a:blip r:embed="rId2"/>
          <a:stretch/>
        </p:blipFill>
        <p:spPr>
          <a:xfrm>
            <a:off x="5545440" y="1367640"/>
            <a:ext cx="4836600" cy="365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Customer Support Activity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705360" y="2963160"/>
            <a:ext cx="5212800" cy="12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Majority of customers who dropped their subscription have experienced at least one customer support ticket taking longer than 12 hours to solve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406800" y="1658880"/>
            <a:ext cx="6052680" cy="45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User Activity Analysis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40840" y="5264640"/>
            <a:ext cx="11712240" cy="12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Users are engaged in all activity options provided by our app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38.5% of all users did not engage in any activity in the past 6 months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Majority of users who canceled their subscription have not engaged in any activity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319320" y="1466640"/>
            <a:ext cx="4836600" cy="36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/>
          <p:cNvPicPr/>
          <p:nvPr/>
        </p:nvPicPr>
        <p:blipFill>
          <a:blip r:embed="rId2"/>
          <a:stretch/>
        </p:blipFill>
        <p:spPr>
          <a:xfrm>
            <a:off x="5721840" y="1449360"/>
            <a:ext cx="4836600" cy="365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User Activity Analysis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705360" y="2963160"/>
            <a:ext cx="5212800" cy="12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Churn rates are highest for users not engaged in any activity in the past 6 months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Engaged users, with at least 1-2 activities every 6 months, generally maintain their subscription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546480" y="1577160"/>
            <a:ext cx="6052680" cy="45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Business Metrics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"/>
          <p:cNvGraphicFramePr/>
          <p:nvPr/>
        </p:nvGraphicFramePr>
        <p:xfrm>
          <a:off x="986400" y="1811160"/>
          <a:ext cx="10140120" cy="3781800"/>
        </p:xfrm>
        <a:graphic>
          <a:graphicData uri="http://schemas.openxmlformats.org/drawingml/2006/table">
            <a:tbl>
              <a:tblPr/>
              <a:tblGrid>
                <a:gridCol w="2246760"/>
                <a:gridCol w="6134400"/>
                <a:gridCol w="1759320"/>
              </a:tblGrid>
              <a:tr h="5198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Business Focus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Business Metric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Current Value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98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Plan Types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Free Plan Churn Rate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41.0%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Plan Types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Paid Plans Churn Rate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24.1%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Customer Support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Proportion of Tickets with Resolution &gt;12 Hrs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27.9%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 Engagement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Proportion of Non-Engaged Users (Over 6 Months Period)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38.5%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828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 Engagement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Proportion of 1+ Activity Users (Over 6 Months Period)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61.5%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900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User Engagement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Proportion of 2+ Activity Users (Over 6 Months Period)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33.5%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Business Recommendations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 the short-term,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inform users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about the different plans and features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Limited time offers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to try features from different plans or upgrade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Implement priority-based customer support,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with a focus on solving tickets in less than 12 hours (e.g. tickets over 8 hours should receive critical priority)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Nudge users to engage in activities,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targeting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specifically users with no activities in the past 3-6 months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 the long-term,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survey our customers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about their preference for current and new features or activities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Enrich our datasets with more information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about customers in order to establish importance of factors affecting churn and address them in a data-driven manner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858</TotalTime>
  <Application>LibreOffice/25.8.5.2$Windows_X86_64 LibreOffice_project/9c8b85f387cc00a89945a79c9e6239f32e450ac2</Application>
  <AppVersion>15.0000</AppVersion>
  <Words>471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2025-10-14T16:22:31Z</dcterms:created>
  <dc:creator>Eduard Dumitrescu</dc:creator>
  <dc:description/>
  <dc:language>en-US</dc:language>
  <cp:lastModifiedBy/>
  <dcterms:modified xsi:type="dcterms:W3CDTF">2026-05-01T15:28:58Z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